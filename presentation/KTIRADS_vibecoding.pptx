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12191695" cy="6858000"/>
  <p:notesSz cx="6858000" cy="12191695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인사 + 한 줄 요약. "코드를 직접 타이핑한 적은 거의 없습니다. 대부분 말로 시켰습니다."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(0:00–0:40)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완성 화면. 소견을 클릭하면 K-TIRADS 등급이 자동 계산되고 판독문이 실시간으로 만들어진다.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이걸 어떻게 만들었는지가 오늘 이야기. (0:40–1:40)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공감 유도 구간. 청중 대부분이 겪는 일이므로 짧게, 고개 끄덕이게만. (1:40–2:30)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"목적이 있으면 일단 만들어진다"는 첫 번째 메시지.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화면이 이미 꽤 그럴듯하다는 점을 짚어줄 것. (2:30–3:30)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"뭘로 만들지"를 내가 몰라도 된다는 점이 핵심.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조건(병원, 설치 불가, 환자정보)만 말하면 방법은 AI가 고른다. (3:30–4:30)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전환 슬라이드. "한 번에 되는 일은 없었다"를 강조하고 넘어간다. (4:30–4:50)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스크린샷을 붙여넣는 것만으로 문제가 전달된다. 비개발자에게 가장 실용적인 팁. (4:50–5:50)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AI도 사람처럼 눈앞의 증상부터 고친다. 사용자가 "반복된다"고 알려주면 근본 원인을 찾는다.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(5:50–6:50)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"망치면 어떡하지"가 가장 큰 진입장벽인데, 되돌리기가 자유롭다는 점을 반드시 알려줄 것.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(6:50–7:40)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사람이 직접 짰다면 아까워서 못 버렸을 것.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AI가 만든 것은 버리기 쉽고, 필요하면 다시 만들면 된다. (7:40–8:40)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★ 핵심 슬라이드. 천천히.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AI는 코드를 잘 짜지만 "이 동작이 임상적으로 위험한가"는 판단하지 못한다.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도메인 전문가가 방향을 잡아야 하는 이유. (8:40–10:10)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결정권은 끝까지 사람에게 있다. 다만 결정 전에 근거를 받을 수 있다는 점이 중요. (10:10–11:00)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사용자가 모르는 버그가 쌓인다. 주기적으로 감사를 시키는 것이 실제로 효과가 있었다.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(11:00–12:00)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가진 자료(엑셀, 논문, 사진)를 그냥 첨부하면 된다.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정리해서 설명할 필요가 없다는 점이 놀라운 부분. (12:00–13:10)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숫자로 규모를 보여주되, "이걸 다 제가 짠 게 아니다"를 강조. (13:10–14:00)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의료 도구라서 특히 중요한 부분. "검사 항목을 만들어달라"는 요청도 말로 하면 된다.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(14:00–15:00)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기능 나열은 빠르게. 하나하나 설명하지 말고 "이 정도까지 왔다"만. (15:00–16:00)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실행 가능한 조언으로 마무리 준비. 청중이 메모할 시간을 조금 줄 것. (16:00–17:20)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ko-KR" altLang="en-US" sz="1200" dirty="0">
                <a:latin typeface="맑은 고딕"/>
                <a:ea typeface="맑은 고딕"/>
              </a:rPr>
              <a:t>정직하게 한계를 인정하는 것이 신뢰를 준다. 마지막 문장으로 마무리하고 질의응답.</a:t>
            </a:r>
          </a:p>
          <a:p>
            <a:r>
              <a:rPr lang="ko-KR" altLang="en-US" sz="1200" dirty="0">
                <a:latin typeface="맑은 고딕"/>
                <a:ea typeface="맑은 고딕"/>
              </a:rPr>
              <a:t>(17:20–20:00)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100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100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100" Type="http://schemas.openxmlformats.org/officeDocument/2006/relationships/image" Target="../media/image3.png"/><Relationship Id="rId101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100" Type="http://schemas.openxmlformats.org/officeDocument/2006/relationships/image" Target="../media/image5.png"/><Relationship Id="rId101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100" Type="http://schemas.openxmlformats.org/officeDocument/2006/relationships/image" Target="../media/image7.png"/><Relationship Id="rId101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100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100" Type="http://schemas.openxmlformats.org/officeDocument/2006/relationships/image" Target="../media/image10.png"/><Relationship Id="rId101" Type="http://schemas.openxmlformats.org/officeDocument/2006/relationships/image" Target="../media/image1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822960" y="16002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48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말로 만든 임상 도구</a:t>
            </a:r>
          </a:p>
        </p:txBody>
      </p:sp>
      <p:sp>
        <p:nvSpPr>
          <p:cNvPr id="3" name="t3"/>
          <p:cNvSpPr txBox="1"/>
          <p:nvPr/>
        </p:nvSpPr>
        <p:spPr>
          <a:xfrm>
            <a:off x="868680" y="2834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900" dirty="0">
                <a:solidFill>
                  <a:srgbClr val="A8C4DE"/>
                </a:solidFill>
                <a:latin typeface="맑은 고딕"/>
                <a:ea typeface="맑은 고딕"/>
                <a:cs typeface="맑은 고딕"/>
              </a:rPr>
              <a:t>AI와 2개월, 110번을 고쳐 만든 갑상선 초음파 판독 도구</a:t>
            </a:r>
          </a:p>
        </p:txBody>
      </p:sp>
      <p:sp>
        <p:nvSpPr>
          <p:cNvPr id="4" name="t4"/>
          <p:cNvSpPr txBox="1"/>
          <p:nvPr/>
        </p:nvSpPr>
        <p:spPr>
          <a:xfrm>
            <a:off x="868680" y="39776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8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110</a:t>
            </a:r>
          </a:p>
        </p:txBody>
      </p:sp>
      <p:sp>
        <p:nvSpPr>
          <p:cNvPr id="5" name="t5"/>
          <p:cNvSpPr txBox="1"/>
          <p:nvPr/>
        </p:nvSpPr>
        <p:spPr>
          <a:xfrm>
            <a:off x="914400" y="468172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번의 수정</a:t>
            </a:r>
          </a:p>
        </p:txBody>
      </p:sp>
      <p:sp>
        <p:nvSpPr>
          <p:cNvPr id="6" name="t6"/>
          <p:cNvSpPr txBox="1"/>
          <p:nvPr/>
        </p:nvSpPr>
        <p:spPr>
          <a:xfrm>
            <a:off x="3246120" y="39776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8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99</a:t>
            </a:r>
          </a:p>
        </p:txBody>
      </p:sp>
      <p:sp>
        <p:nvSpPr>
          <p:cNvPr id="7" name="t7"/>
          <p:cNvSpPr txBox="1"/>
          <p:nvPr/>
        </p:nvSpPr>
        <p:spPr>
          <a:xfrm>
            <a:off x="3291840" y="468172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개의 버전</a:t>
            </a:r>
          </a:p>
        </p:txBody>
      </p:sp>
      <p:sp>
        <p:nvSpPr>
          <p:cNvPr id="8" name="t8"/>
          <p:cNvSpPr txBox="1"/>
          <p:nvPr/>
        </p:nvSpPr>
        <p:spPr>
          <a:xfrm>
            <a:off x="5623560" y="39776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8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9" name="t9"/>
          <p:cNvSpPr txBox="1"/>
          <p:nvPr/>
        </p:nvSpPr>
        <p:spPr>
          <a:xfrm>
            <a:off x="5669280" y="468172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개의 자동 검사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8001000" y="39776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8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8046720" y="468172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개의 파일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68680" y="58064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50" dirty="0">
                <a:solidFill>
                  <a:srgbClr val="7E9AB5"/>
                </a:solidFill>
                <a:latin typeface="맑은 고딕"/>
                <a:ea typeface="맑은 고딕"/>
                <a:cs typeface="맑은 고딕"/>
              </a:rPr>
              <a:t>임훈종  ·  영상의학과  ·  분당서울대학교병원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먼저 결과물부터 보시겠습니다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실제 진료에 쓰려고 만든 갑상선 초음파 판독 도구입니다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572768"/>
            <a:ext cx="10881360" cy="470916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pic>
        <p:nvPicPr>
          <p:cNvPr id="5" name="p5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565133" y="1700784"/>
            <a:ext cx="7031255" cy="44531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시작은 불편함이었습니다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거창한 계획이 아니라, 매일 반복되던 세 가지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83080"/>
            <a:ext cx="34290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987552" y="202996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9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6"/>
          <p:cNvSpPr txBox="1"/>
          <p:nvPr/>
        </p:nvSpPr>
        <p:spPr>
          <a:xfrm>
            <a:off x="987552" y="267004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6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같은 문장을 매번 다시 친다</a:t>
            </a:r>
          </a:p>
        </p:txBody>
      </p:sp>
      <p:sp>
        <p:nvSpPr>
          <p:cNvPr id="7" name="t7"/>
          <p:cNvSpPr txBox="1"/>
          <p:nvPr/>
        </p:nvSpPr>
        <p:spPr>
          <a:xfrm>
            <a:off x="987552" y="3310128"/>
            <a:ext cx="27432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"solid, hypoechoic, ..."</a:t>
            </a:r>
          </a:p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판독문 문장을 환자마다</a:t>
            </a:r>
          </a:p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처음부터 타이핑</a:t>
            </a:r>
          </a:p>
        </p:txBody>
      </p:sp>
      <p:sp>
        <p:nvSpPr>
          <p:cNvPr id="8" name="s8"/>
          <p:cNvSpPr/>
          <p:nvPr/>
        </p:nvSpPr>
        <p:spPr>
          <a:xfrm>
            <a:off x="4343400" y="1783080"/>
            <a:ext cx="34290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4690872" y="202996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900" b="1" dirty="0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4690872" y="267004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6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가이드라인을 눈으로 대조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4690872" y="3310128"/>
            <a:ext cx="27432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K-TIRADS 등급과</a:t>
            </a:r>
          </a:p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생검 기준(크기)을</a:t>
            </a:r>
          </a:p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매번 표와 맞춰 확인</a:t>
            </a:r>
          </a:p>
        </p:txBody>
      </p:sp>
      <p:sp>
        <p:nvSpPr>
          <p:cNvPr id="12" name="s12"/>
          <p:cNvSpPr/>
          <p:nvPr/>
        </p:nvSpPr>
        <p:spPr>
          <a:xfrm>
            <a:off x="8046720" y="1783080"/>
            <a:ext cx="34290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8394192" y="202996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900" b="1" dirty="0">
                <a:solidFill>
                  <a:srgbClr val="FF453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394192" y="2670048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6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연구 데이터를 또 입력한다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8394192" y="3310128"/>
            <a:ext cx="27432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판독이 끝나면 같은 내용을</a:t>
            </a:r>
          </a:p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엑셀에 한 번 더</a:t>
            </a:r>
          </a:p>
          <a:p>
            <a:pPr algn="l">
              <a:lnSpc>
                <a:spcPct val="140000"/>
              </a:lnSpc>
            </a:pPr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옮겨 적음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첫 요청은 한 문장이었습니다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그리고 이게 그 결과로 나온 첫 화면입니다</a:t>
            </a:r>
          </a:p>
        </p:txBody>
      </p:sp>
      <p:pic>
        <p:nvPicPr>
          <p:cNvPr id="4" name="p4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013059" y="1783080"/>
            <a:ext cx="6569242" cy="4160520"/>
          </a:xfrm>
          <a:prstGeom prst="rect">
            <a:avLst/>
          </a:prstGeom>
        </p:spPr>
      </p:pic>
      <p:sp>
        <p:nvSpPr>
          <p:cNvPr id="5" name="s5"/>
          <p:cNvSpPr/>
          <p:nvPr/>
        </p:nvSpPr>
        <p:spPr>
          <a:xfrm>
            <a:off x="640080" y="6035040"/>
            <a:ext cx="1051560" cy="329184"/>
          </a:xfrm>
          <a:prstGeom prst="roundRect">
            <a:avLst>
              <a:gd name="adj" fmla="val 12000"/>
            </a:avLst>
          </a:prstGeom>
          <a:solidFill>
            <a:srgbClr val="6B7A8C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1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ver 0.1</a:t>
            </a:r>
          </a:p>
        </p:txBody>
      </p:sp>
      <p:sp>
        <p:nvSpPr>
          <p:cNvPr id="6" name="s6"/>
          <p:cNvSpPr/>
          <p:nvPr/>
        </p:nvSpPr>
        <p:spPr>
          <a:xfrm>
            <a:off x="8275320" y="1783080"/>
            <a:ext cx="3246120" cy="416052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8595360" y="20574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여기서 중요한 것</a:t>
            </a:r>
          </a:p>
        </p:txBody>
      </p:sp>
      <p:sp>
        <p:nvSpPr>
          <p:cNvPr id="8" name="t8"/>
          <p:cNvSpPr txBox="1"/>
          <p:nvPr/>
        </p:nvSpPr>
        <p:spPr>
          <a:xfrm>
            <a:off x="8595360" y="2487168"/>
            <a:ext cx="265176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완벽하지 않았습니다.</a:t>
            </a:r>
          </a:p>
          <a:p>
            <a:pPr algn="l">
              <a:lnSpc>
                <a:spcPct val="135000"/>
              </a:lnSpc>
            </a:pPr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하지만 "일단 돌아가는 것"이</a:t>
            </a:r>
          </a:p>
          <a:p>
            <a:pPr algn="l">
              <a:lnSpc>
                <a:spcPct val="135000"/>
              </a:lnSpc>
            </a:pPr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처음부터 나왔습니다.</a:t>
            </a:r>
          </a:p>
        </p:txBody>
      </p:sp>
      <p:sp>
        <p:nvSpPr>
          <p:cNvPr id="9" name="t9"/>
          <p:cNvSpPr txBox="1"/>
          <p:nvPr/>
        </p:nvSpPr>
        <p:spPr>
          <a:xfrm>
            <a:off x="8595360" y="4160520"/>
            <a:ext cx="2651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완성품을 한 번에 만드는 게</a:t>
            </a:r>
          </a:p>
          <a:p>
            <a:pPr algn="l">
              <a:lnSpc>
                <a:spcPct val="135000"/>
              </a:lnSpc>
            </a:pPr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아니라, 돌아가는 것을 먼저</a:t>
            </a:r>
          </a:p>
          <a:p>
            <a:pPr algn="l">
              <a:lnSpc>
                <a:spcPct val="135000"/>
              </a:lnSpc>
            </a:pPr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만들고 거기서부터</a:t>
            </a:r>
          </a:p>
          <a:p>
            <a:pPr algn="l">
              <a:lnSpc>
                <a:spcPct val="135000"/>
              </a:lnSpc>
            </a:pPr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고쳐 나갑니다.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"병원에서 설치 없이 쓰고 싶다"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이 한마디에서 나온 설계 — 제가 정한 게 아니라 AI가 제안했습니다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83080"/>
            <a:ext cx="1088136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960120" y="2093976"/>
            <a:ext cx="658368" cy="658368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6"/>
          <p:cNvSpPr txBox="1"/>
          <p:nvPr/>
        </p:nvSpPr>
        <p:spPr>
          <a:xfrm>
            <a:off x="1874520" y="2020824"/>
            <a:ext cx="9052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7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설치가 필요 없습니다</a:t>
            </a:r>
          </a:p>
        </p:txBody>
      </p:sp>
      <p:sp>
        <p:nvSpPr>
          <p:cNvPr id="7" name="t7"/>
          <p:cNvSpPr txBox="1"/>
          <p:nvPr/>
        </p:nvSpPr>
        <p:spPr>
          <a:xfrm>
            <a:off x="1874520" y="2478024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파일을 더블클릭하면 브라우저에서 바로 열립니다. 병원 PC에 프로그램을 깔 필요가 없습니다.</a:t>
            </a:r>
          </a:p>
        </p:txBody>
      </p:sp>
      <p:sp>
        <p:nvSpPr>
          <p:cNvPr id="8" name="s8"/>
          <p:cNvSpPr/>
          <p:nvPr/>
        </p:nvSpPr>
        <p:spPr>
          <a:xfrm>
            <a:off x="640080" y="3246120"/>
            <a:ext cx="1088136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s9"/>
          <p:cNvSpPr/>
          <p:nvPr/>
        </p:nvSpPr>
        <p:spPr>
          <a:xfrm>
            <a:off x="960120" y="3557016"/>
            <a:ext cx="658368" cy="658368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874520" y="3483864"/>
            <a:ext cx="9052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7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인터넷이 필요 없습니다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874520" y="3941064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외부 서버와 통신하지 않습니다. 인터넷이 끊겨도 그대로 작동합니다.</a:t>
            </a:r>
          </a:p>
        </p:txBody>
      </p:sp>
      <p:sp>
        <p:nvSpPr>
          <p:cNvPr id="12" name="s12"/>
          <p:cNvSpPr/>
          <p:nvPr/>
        </p:nvSpPr>
        <p:spPr>
          <a:xfrm>
            <a:off x="640080" y="4709160"/>
            <a:ext cx="1088136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s13"/>
          <p:cNvSpPr/>
          <p:nvPr/>
        </p:nvSpPr>
        <p:spPr>
          <a:xfrm>
            <a:off x="960120" y="5020056"/>
            <a:ext cx="658368" cy="658368"/>
          </a:xfrm>
          <a:prstGeom prst="ellipse">
            <a:avLst/>
          </a:prstGeom>
          <a:solidFill>
            <a:srgbClr val="FF9F0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9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874520" y="4946904"/>
            <a:ext cx="9052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7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환자 정보가 나가지 않습니다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1874520" y="5404104"/>
            <a:ext cx="932688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입력한 내용은 그 PC 안에만 남습니다. 어디로도 전송되지 않습니다.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85800" y="63093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→ 결과적으로 HTML 파일 한 개. 이메일로 보내면 그대로 실행됩니다.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914400" y="21031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PART 2</a:t>
            </a:r>
          </a:p>
        </p:txBody>
      </p:sp>
      <p:sp>
        <p:nvSpPr>
          <p:cNvPr id="3" name="t3"/>
          <p:cNvSpPr txBox="1"/>
          <p:nvPr/>
        </p:nvSpPr>
        <p:spPr>
          <a:xfrm>
            <a:off x="914400" y="256032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42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여기서부터가 진짜입니다</a:t>
            </a:r>
          </a:p>
        </p:txBody>
      </p:sp>
      <p:sp>
        <p:nvSpPr>
          <p:cNvPr id="4" name="t4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500" dirty="0">
                <a:solidFill>
                  <a:srgbClr val="A8C4DE"/>
                </a:solidFill>
                <a:latin typeface="맑은 고딕"/>
                <a:ea typeface="맑은 고딕"/>
                <a:cs typeface="맑은 고딕"/>
              </a:rPr>
              <a:t>만드는 것보다 고치는 과정이 90%였습니다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1 — 말로 안 되면 화면을 찍어 보냅니다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"어디가 어떻게 이상한지" 설명하려 애쓰지 않았습니다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896112" y="2061972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6" name="t6"/>
          <p:cNvSpPr txBox="1"/>
          <p:nvPr/>
        </p:nvSpPr>
        <p:spPr>
          <a:xfrm>
            <a:off x="1508760" y="1783080"/>
            <a:ext cx="97383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이 표에서 좌우 구분이 잘 안 되는 것 같아. 입력할 때 헷갈려.   (+ 화면 캡처 첨부)</a:t>
            </a:r>
          </a:p>
        </p:txBody>
      </p:sp>
      <p:sp>
        <p:nvSpPr>
          <p:cNvPr id="7" name="t7"/>
          <p:cNvSpPr txBox="1"/>
          <p:nvPr/>
        </p:nvSpPr>
        <p:spPr>
          <a:xfrm>
            <a:off x="640080" y="294436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b="1" dirty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BEFORE</a:t>
            </a:r>
          </a:p>
        </p:txBody>
      </p:sp>
      <p:pic>
        <p:nvPicPr>
          <p:cNvPr id="8" name="p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40080" y="3291984"/>
            <a:ext cx="5212080" cy="1449036"/>
          </a:xfrm>
          <a:prstGeom prst="rect">
            <a:avLst/>
          </a:prstGeom>
        </p:spPr>
      </p:pic>
      <p:sp>
        <p:nvSpPr>
          <p:cNvPr id="9" name="t9"/>
          <p:cNvSpPr txBox="1"/>
          <p:nvPr/>
        </p:nvSpPr>
        <p:spPr>
          <a:xfrm>
            <a:off x="6309360" y="294436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b="1" dirty="0">
                <a:solidFill>
                  <a:srgbClr val="0A84FF"/>
                </a:solidFill>
                <a:latin typeface="Consolas"/>
                <a:ea typeface="Consolas"/>
                <a:cs typeface="Consolas"/>
              </a:rPr>
              <a:t>AFTER</a:t>
            </a:r>
          </a:p>
        </p:txBody>
      </p:sp>
      <p:pic>
        <p:nvPicPr>
          <p:cNvPr id="10" name="p10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309811" y="3291840"/>
            <a:ext cx="5211178" cy="1014984"/>
          </a:xfrm>
          <a:prstGeom prst="rect">
            <a:avLst/>
          </a:prstGeom>
        </p:spPr>
      </p:pic>
      <p:sp>
        <p:nvSpPr>
          <p:cNvPr id="11" name="t11"/>
          <p:cNvSpPr txBox="1"/>
          <p:nvPr/>
        </p:nvSpPr>
        <p:spPr>
          <a:xfrm>
            <a:off x="685800" y="5212080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색 배지로 구분  ·  그룹 사이 굵은 경계선  ·  입력 중인 열 전체를 밝게 표시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85800" y="57607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스크린샷 한 장이 설명 열 문장보다 정확했습니다.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2 — 같은 문제가 반복되면 "왜"를 묻습니다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증상만 고치면 계속 되돌아옵니다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3736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896112" y="2107692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6" name="t6"/>
          <p:cNvSpPr txBox="1"/>
          <p:nvPr/>
        </p:nvSpPr>
        <p:spPr>
          <a:xfrm>
            <a:off x="1508760" y="1828800"/>
            <a:ext cx="97383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글자가 위아래로 잘려. 왜 자꾸 이런 문제가 반복되지? 내가 4번 정도 언급한 것 같은데</a:t>
            </a:r>
          </a:p>
        </p:txBody>
      </p:sp>
      <p:sp>
        <p:nvSpPr>
          <p:cNvPr id="7" name="s7"/>
          <p:cNvSpPr/>
          <p:nvPr/>
        </p:nvSpPr>
        <p:spPr>
          <a:xfrm>
            <a:off x="640080" y="3063240"/>
            <a:ext cx="5257800" cy="2331720"/>
          </a:xfrm>
          <a:prstGeom prst="roundRect">
            <a:avLst>
              <a:gd name="adj" fmla="val 3500"/>
            </a:avLst>
          </a:prstGeom>
          <a:solidFill>
            <a:srgbClr val="FFF4E5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960120" y="3291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C77700"/>
                </a:solidFill>
                <a:latin typeface="맑은 고딕"/>
                <a:ea typeface="맑은 고딕"/>
                <a:cs typeface="맑은 고딕"/>
              </a:rPr>
              <a:t>그 전까지</a:t>
            </a:r>
          </a:p>
        </p:txBody>
      </p:sp>
      <p:sp>
        <p:nvSpPr>
          <p:cNvPr id="9" name="t9"/>
          <p:cNvSpPr txBox="1"/>
          <p:nvPr/>
        </p:nvSpPr>
        <p:spPr>
          <a:xfrm>
            <a:off x="960120" y="3703320"/>
            <a:ext cx="461772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"여기 잘려요" → 그 부분만 수정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다음 화면에서 또 잘림 → 또 수정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네 번 반복</a:t>
            </a:r>
          </a:p>
        </p:txBody>
      </p:sp>
      <p:sp>
        <p:nvSpPr>
          <p:cNvPr id="10" name="s10"/>
          <p:cNvSpPr/>
          <p:nvPr/>
        </p:nvSpPr>
        <p:spPr>
          <a:xfrm>
            <a:off x="6263640" y="3063240"/>
            <a:ext cx="5257800" cy="2331720"/>
          </a:xfrm>
          <a:prstGeom prst="roundRect">
            <a:avLst>
              <a:gd name="adj" fmla="val 3500"/>
            </a:avLst>
          </a:prstGeom>
          <a:solidFill>
            <a:srgbClr val="E8F6EC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6583680" y="3291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157F33"/>
                </a:solidFill>
                <a:latin typeface="맑은 고딕"/>
                <a:ea typeface="맑은 고딕"/>
                <a:cs typeface="맑은 고딕"/>
              </a:rPr>
              <a:t>"왜 반복되냐"고 묻고 나서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6583680" y="3703320"/>
            <a:ext cx="4617720" cy="1554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원인은 한 곳이었습니다.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글자 높이를 강제로 눌러버리는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설정 한 줄 → 지우니 전부 해결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85800" y="57150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두 번 같은 일이 생기면, 고치라고 하지 말고 "왜 반복되는지"를 먼저 물어보세요.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3 — 마음에 안 들면 통째로 되돌립니다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실험이 실패해도 잃는 게 없습니다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2240280"/>
            <a:ext cx="25146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804672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ver 0.90</a:t>
            </a:r>
          </a:p>
        </p:txBody>
      </p:sp>
      <p:sp>
        <p:nvSpPr>
          <p:cNvPr id="6" name="t6"/>
          <p:cNvSpPr txBox="1"/>
          <p:nvPr/>
        </p:nvSpPr>
        <p:spPr>
          <a:xfrm>
            <a:off x="804672" y="3017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기존 상태</a:t>
            </a:r>
          </a:p>
        </p:txBody>
      </p:sp>
      <p:sp>
        <p:nvSpPr>
          <p:cNvPr id="7" name="t7"/>
          <p:cNvSpPr txBox="1"/>
          <p:nvPr/>
        </p:nvSpPr>
        <p:spPr>
          <a:xfrm>
            <a:off x="3182112" y="2761488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900" dirty="0">
                <a:solidFill>
                  <a:srgbClr val="B8C4D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8" name="s8"/>
          <p:cNvSpPr/>
          <p:nvPr/>
        </p:nvSpPr>
        <p:spPr>
          <a:xfrm>
            <a:off x="3520440" y="2240280"/>
            <a:ext cx="25146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3685032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0A84FF"/>
                </a:solidFill>
                <a:latin typeface="Consolas"/>
                <a:ea typeface="Consolas"/>
                <a:cs typeface="Consolas"/>
              </a:rPr>
              <a:t>ver 0.95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685032" y="3017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새 기능 시도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062472" y="2761488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900" dirty="0">
                <a:solidFill>
                  <a:srgbClr val="B8C4D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2" name="s12"/>
          <p:cNvSpPr/>
          <p:nvPr/>
        </p:nvSpPr>
        <p:spPr>
          <a:xfrm>
            <a:off x="6400800" y="2240280"/>
            <a:ext cx="25146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6565392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FF9F0A"/>
                </a:solidFill>
                <a:latin typeface="Consolas"/>
                <a:ea typeface="Consolas"/>
                <a:cs typeface="Consolas"/>
              </a:rPr>
              <a:t>ver 1.01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6565392" y="3017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점점 복잡해짐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8942832" y="2761488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900" dirty="0">
                <a:solidFill>
                  <a:srgbClr val="B8C4D0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s16"/>
          <p:cNvSpPr/>
          <p:nvPr/>
        </p:nvSpPr>
        <p:spPr>
          <a:xfrm>
            <a:off x="9281160" y="2240280"/>
            <a:ext cx="251460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9445752" y="251460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30D158"/>
                </a:solidFill>
                <a:latin typeface="Consolas"/>
                <a:ea typeface="Consolas"/>
                <a:cs typeface="Consolas"/>
              </a:rPr>
              <a:t>ver 0.90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9445752" y="3017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통째로 되돌림</a:t>
            </a:r>
          </a:p>
        </p:txBody>
      </p:sp>
      <p:sp>
        <p:nvSpPr>
          <p:cNvPr id="19" name="s19"/>
          <p:cNvSpPr/>
          <p:nvPr/>
        </p:nvSpPr>
        <p:spPr>
          <a:xfrm>
            <a:off x="640080" y="420624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20" name="s20"/>
          <p:cNvSpPr/>
          <p:nvPr/>
        </p:nvSpPr>
        <p:spPr>
          <a:xfrm>
            <a:off x="896112" y="4576572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1508760" y="4297680"/>
            <a:ext cx="97383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그냥 version 0.90으로 롤백해줘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85800" y="55778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되돌릴 수 있다는 걸 알면, 과감하게 시도해볼 수 있습니다.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85800" y="6053328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실제로 이 도구는 99개 버전이 전부 보관되어 있고, 어느 시점으로든 돌아갈 수 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4 — 만들어 놓은 것도 버립니다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기능을 늘리다 보니 도구가 무거워졌습니다</a:t>
            </a:r>
          </a:p>
        </p:txBody>
      </p:sp>
      <p:sp>
        <p:nvSpPr>
          <p:cNvPr id="4" name="t4"/>
          <p:cNvSpPr txBox="1"/>
          <p:nvPr/>
        </p:nvSpPr>
        <p:spPr>
          <a:xfrm>
            <a:off x="640080" y="175564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6B7A8C"/>
                </a:solidFill>
                <a:latin typeface="Consolas"/>
                <a:ea typeface="Consolas"/>
                <a:cs typeface="Consolas"/>
              </a:rPr>
              <a:t>BEFORE — 탭 6개</a:t>
            </a:r>
          </a:p>
        </p:txBody>
      </p:sp>
      <p:pic>
        <p:nvPicPr>
          <p:cNvPr id="5" name="p5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40080" y="2196160"/>
            <a:ext cx="10881360" cy="380848"/>
          </a:xfrm>
          <a:prstGeom prst="rect">
            <a:avLst/>
          </a:prstGeom>
        </p:spPr>
      </p:pic>
      <p:sp>
        <p:nvSpPr>
          <p:cNvPr id="6" name="s6"/>
          <p:cNvSpPr/>
          <p:nvPr/>
        </p:nvSpPr>
        <p:spPr>
          <a:xfrm>
            <a:off x="640080" y="2852928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7" name="s7"/>
          <p:cNvSpPr/>
          <p:nvPr/>
        </p:nvSpPr>
        <p:spPr>
          <a:xfrm>
            <a:off x="896112" y="3223260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8" name="t8"/>
          <p:cNvSpPr txBox="1"/>
          <p:nvPr/>
        </p:nvSpPr>
        <p:spPr>
          <a:xfrm>
            <a:off x="1508760" y="2944368"/>
            <a:ext cx="97383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너무 복잡하게 가지 않을래. 세 가지만 남기고 나머지는 삭제해줘. 먼저 완성도를 높일래</a:t>
            </a:r>
          </a:p>
        </p:txBody>
      </p:sp>
      <p:sp>
        <p:nvSpPr>
          <p:cNvPr id="9" name="t9"/>
          <p:cNvSpPr txBox="1"/>
          <p:nvPr/>
        </p:nvSpPr>
        <p:spPr>
          <a:xfrm>
            <a:off x="640080" y="4133088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0A84FF"/>
                </a:solidFill>
                <a:latin typeface="Consolas"/>
                <a:ea typeface="Consolas"/>
                <a:cs typeface="Consolas"/>
              </a:rPr>
              <a:t>AFTER — 탭 3개</a:t>
            </a:r>
          </a:p>
        </p:txBody>
      </p:sp>
      <p:pic>
        <p:nvPicPr>
          <p:cNvPr id="10" name="p10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40080" y="4573600"/>
            <a:ext cx="10881360" cy="380848"/>
          </a:xfrm>
          <a:prstGeom prst="rect">
            <a:avLst/>
          </a:prstGeom>
        </p:spPr>
      </p:pic>
      <p:sp>
        <p:nvSpPr>
          <p:cNvPr id="11" name="s11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960120" y="5458968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코드 2,300줄이 한 번에 삭제됐습니다.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960120" y="5870448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아깝지 않았습니다. 만드는 데 든 시간보다, 안 쓰는 기능이 계속 걸리적거리는 비용이 더 컸습니다.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5 — AI가 절대 못 잡아내는 것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이 슬라이드가 오늘 발표에서 가장 중요합니다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664208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896112" y="2034540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6" name="t6"/>
          <p:cNvSpPr txBox="1"/>
          <p:nvPr/>
        </p:nvSpPr>
        <p:spPr>
          <a:xfrm>
            <a:off x="1508760" y="1755648"/>
            <a:ext cx="97383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아무것도 입력 안 하면 정상 판독문이 나가잖아. 실수로 누락한 걸 정상으로 오인할 여지가 있어</a:t>
            </a:r>
          </a:p>
        </p:txBody>
      </p:sp>
      <p:sp>
        <p:nvSpPr>
          <p:cNvPr id="7" name="t7"/>
          <p:cNvSpPr txBox="1"/>
          <p:nvPr/>
        </p:nvSpPr>
        <p:spPr>
          <a:xfrm>
            <a:off x="640080" y="288036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FF453A"/>
                </a:solidFill>
                <a:latin typeface="맑은 고딕"/>
                <a:ea typeface="맑은 고딕"/>
                <a:cs typeface="맑은 고딕"/>
              </a:rPr>
              <a:t>BEFORE — 빈 화면에서 생성한 판독문</a:t>
            </a:r>
          </a:p>
        </p:txBody>
      </p:sp>
      <p:pic>
        <p:nvPicPr>
          <p:cNvPr id="8" name="p8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11613" y="3246120"/>
            <a:ext cx="3469015" cy="2514600"/>
          </a:xfrm>
          <a:prstGeom prst="rect">
            <a:avLst/>
          </a:prstGeom>
        </p:spPr>
      </p:pic>
      <p:sp>
        <p:nvSpPr>
          <p:cNvPr id="9" name="t9"/>
          <p:cNvSpPr txBox="1"/>
          <p:nvPr/>
        </p:nvSpPr>
        <p:spPr>
          <a:xfrm>
            <a:off x="6309360" y="288036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157F33"/>
                </a:solidFill>
                <a:latin typeface="맑은 고딕"/>
                <a:ea typeface="맑은 고딕"/>
                <a:cs typeface="맑은 고딕"/>
              </a:rPr>
              <a:t>AFTER — 같은 상황</a:t>
            </a:r>
          </a:p>
        </p:txBody>
      </p:sp>
      <p:pic>
        <p:nvPicPr>
          <p:cNvPr id="10" name="p10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482840" y="3246120"/>
            <a:ext cx="2865120" cy="2514600"/>
          </a:xfrm>
          <a:prstGeom prst="rect">
            <a:avLst/>
          </a:prstGeom>
        </p:spPr>
      </p:pic>
      <p:sp>
        <p:nvSpPr>
          <p:cNvPr id="11" name="t11"/>
          <p:cNvSpPr txBox="1"/>
          <p:nvPr/>
        </p:nvSpPr>
        <p:spPr>
          <a:xfrm>
            <a:off x="685800" y="5943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"정상"과 "확인하지 않음"은 다릅니다 — 이건 의사만 알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6 — AI가 그냥 따르지 않을 때도 있습니다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시키는 대로만 하는 도구가 아니었습니다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896112" y="2153412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6" name="t6"/>
          <p:cNvSpPr txBox="1"/>
          <p:nvPr/>
        </p:nvSpPr>
        <p:spPr>
          <a:xfrm>
            <a:off x="1508760" y="1874520"/>
            <a:ext cx="97383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아무것도 입력 안 하면 어차피 정상인데, 이 버튼 굳이 있을 필요가 있을까?</a:t>
            </a:r>
          </a:p>
        </p:txBody>
      </p:sp>
      <p:sp>
        <p:nvSpPr>
          <p:cNvPr id="7" name="s7"/>
          <p:cNvSpPr/>
          <p:nvPr/>
        </p:nvSpPr>
        <p:spPr>
          <a:xfrm>
            <a:off x="640080" y="3108960"/>
            <a:ext cx="10881360" cy="205740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960120" y="33375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AI의 답</a:t>
            </a:r>
          </a:p>
        </p:txBody>
      </p:sp>
      <p:sp>
        <p:nvSpPr>
          <p:cNvPr id="9" name="t9"/>
          <p:cNvSpPr txBox="1"/>
          <p:nvPr/>
        </p:nvSpPr>
        <p:spPr>
          <a:xfrm>
            <a:off x="960120" y="3703320"/>
            <a:ext cx="1024128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"삭제하기 전에 확인해봤더니, 그 버튼은 실제로 하는 일이 있습니다.</a:t>
            </a:r>
          </a:p>
          <a:p>
            <a:pPr algn="l">
              <a:lnSpc>
                <a:spcPct val="145000"/>
              </a:lnSpc>
            </a:pPr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켜면 판독문에 'Normal thyroid'가 명시되고, 아래 입력이 잠깁니다.</a:t>
            </a:r>
          </a:p>
          <a:p>
            <a:pPr algn="l">
              <a:lnSpc>
                <a:spcPct val="145000"/>
              </a:lnSpc>
            </a:pPr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안 켜면 그 문구가 안 들어갑니다.  —  유지를 권합니다."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85800" y="53492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결과적으로 제가 몰랐던 동작을 알게 됐고, 그 다음에 "그래도 없애자"고 결정했습니다.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85800" y="58521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근거를 들어 반대해주는 편이, 무조건 따르는 것보다 안전합니다.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7 — 스스로 검사하라고 시킵니다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제가 발견하지 못한 문제를 찾아냈습니다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55648"/>
            <a:ext cx="10881360" cy="8686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896112" y="2034540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6" name="t6"/>
          <p:cNvSpPr txBox="1"/>
          <p:nvPr/>
        </p:nvSpPr>
        <p:spPr>
          <a:xfrm>
            <a:off x="1508760" y="1847088"/>
            <a:ext cx="973836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다른 버그 있는지 자세히 확인해줘</a:t>
            </a:r>
          </a:p>
        </p:txBody>
      </p:sp>
      <p:sp>
        <p:nvSpPr>
          <p:cNvPr id="7" name="s7"/>
          <p:cNvSpPr/>
          <p:nvPr/>
        </p:nvSpPr>
        <p:spPr>
          <a:xfrm>
            <a:off x="640080" y="2926080"/>
            <a:ext cx="10881360" cy="1024128"/>
          </a:xfrm>
          <a:prstGeom prst="roundRect">
            <a:avLst>
              <a:gd name="adj" fmla="val 3500"/>
            </a:avLst>
          </a:prstGeom>
          <a:solidFill>
            <a:srgbClr val="FFF0E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s8"/>
          <p:cNvSpPr/>
          <p:nvPr/>
        </p:nvSpPr>
        <p:spPr>
          <a:xfrm>
            <a:off x="914400" y="3054096"/>
            <a:ext cx="822960" cy="292608"/>
          </a:xfrm>
          <a:prstGeom prst="roundRect">
            <a:avLst>
              <a:gd name="adj" fmla="val 10000"/>
            </a:avLst>
          </a:prstGeom>
          <a:solidFill>
            <a:srgbClr val="FF45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치명적</a:t>
            </a:r>
          </a:p>
        </p:txBody>
      </p:sp>
      <p:sp>
        <p:nvSpPr>
          <p:cNvPr id="9" name="t9"/>
          <p:cNvSpPr txBox="1"/>
          <p:nvPr/>
        </p:nvSpPr>
        <p:spPr>
          <a:xfrm>
            <a:off x="1920240" y="3017520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새로고침하면 입력한 내용이 전부 사라짐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920240" y="3419856"/>
            <a:ext cx="9235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판독 도중 새로고침 한 번이면 처음부터 다시 입력해야 하는 상태였습니다.</a:t>
            </a:r>
          </a:p>
        </p:txBody>
      </p:sp>
      <p:sp>
        <p:nvSpPr>
          <p:cNvPr id="11" name="s11"/>
          <p:cNvSpPr/>
          <p:nvPr/>
        </p:nvSpPr>
        <p:spPr>
          <a:xfrm>
            <a:off x="640080" y="4087368"/>
            <a:ext cx="10881360" cy="54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s12"/>
          <p:cNvSpPr/>
          <p:nvPr/>
        </p:nvSpPr>
        <p:spPr>
          <a:xfrm>
            <a:off x="914400" y="4215384"/>
            <a:ext cx="822960" cy="292608"/>
          </a:xfrm>
          <a:prstGeom prst="roundRect">
            <a:avLst>
              <a:gd name="adj" fmla="val 10000"/>
            </a:avLst>
          </a:prstGeom>
          <a:solidFill>
            <a:srgbClr val="FF9F0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920240" y="4178808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접어둔 결절을 클릭하면 내용이 안 보임</a:t>
            </a:r>
          </a:p>
        </p:txBody>
      </p:sp>
      <p:sp>
        <p:nvSpPr>
          <p:cNvPr id="14" name="s14"/>
          <p:cNvSpPr/>
          <p:nvPr/>
        </p:nvSpPr>
        <p:spPr>
          <a:xfrm>
            <a:off x="640080" y="4773168"/>
            <a:ext cx="10881360" cy="54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5" name="s15"/>
          <p:cNvSpPr/>
          <p:nvPr/>
        </p:nvSpPr>
        <p:spPr>
          <a:xfrm>
            <a:off x="914400" y="4901184"/>
            <a:ext cx="822960" cy="292608"/>
          </a:xfrm>
          <a:prstGeom prst="roundRect">
            <a:avLst>
              <a:gd name="adj" fmla="val 10000"/>
            </a:avLst>
          </a:prstGeom>
          <a:solidFill>
            <a:srgbClr val="FF9F0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보통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920240" y="4864608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복사한 결절이 접힌 채로 생성됨</a:t>
            </a:r>
          </a:p>
        </p:txBody>
      </p:sp>
      <p:sp>
        <p:nvSpPr>
          <p:cNvPr id="17" name="s17"/>
          <p:cNvSpPr/>
          <p:nvPr/>
        </p:nvSpPr>
        <p:spPr>
          <a:xfrm>
            <a:off x="640080" y="5458968"/>
            <a:ext cx="10881360" cy="54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8" name="s18"/>
          <p:cNvSpPr/>
          <p:nvPr/>
        </p:nvSpPr>
        <p:spPr>
          <a:xfrm>
            <a:off x="914400" y="5586984"/>
            <a:ext cx="822960" cy="292608"/>
          </a:xfrm>
          <a:prstGeom prst="roundRect">
            <a:avLst>
              <a:gd name="adj" fmla="val 10000"/>
            </a:avLst>
          </a:prstGeom>
          <a:solidFill>
            <a:srgbClr val="6B7A8C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사소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1920240" y="5550408"/>
            <a:ext cx="9235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알림 창의 되돌리기 버튼이 사라짐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685800" y="61447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"고쳐줘"만 하지 말고, 가끔 "문제 없는지 봐줘"라고 시켜보세요.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패턴 8 — 가지고 있는 자료를 그냥 던집니다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연구용 엑셀 양식을 첨부하고 한 문장만 덧붙였습니다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19072"/>
            <a:ext cx="6766560" cy="11430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D9E1EA"/>
            </a:solidFill>
          </a:ln>
        </p:spPr>
        <p:txBody>
          <a:bodyPr/>
          <a:lstStyle/>
          <a:p/>
        </p:txBody>
      </p:sp>
      <p:sp>
        <p:nvSpPr>
          <p:cNvPr id="5" name="s5"/>
          <p:cNvSpPr/>
          <p:nvPr/>
        </p:nvSpPr>
        <p:spPr>
          <a:xfrm>
            <a:off x="896112" y="2135124"/>
            <a:ext cx="457200" cy="310896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/>
            <a:r>
              <a:rPr lang="ko-KR" altLang="en-US" sz="10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</a:t>
            </a:r>
          </a:p>
        </p:txBody>
      </p:sp>
      <p:sp>
        <p:nvSpPr>
          <p:cNvPr id="6" name="t6"/>
          <p:cNvSpPr txBox="1"/>
          <p:nvPr/>
        </p:nvSpPr>
        <p:spPr>
          <a:xfrm>
            <a:off x="1508760" y="1810512"/>
            <a:ext cx="5623560" cy="960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이런 데이터셋이 형성되게끔 하고 싶어</a:t>
            </a:r>
          </a:p>
          <a:p>
            <a:pPr algn="l">
              <a:lnSpc>
                <a:spcPct val="130000"/>
              </a:lnSpc>
            </a:pPr>
            <a:r>
              <a:rPr lang="ko-KR" altLang="en-US" sz="1450" i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(+ 연구용 엑셀 파일 첨부)</a:t>
            </a:r>
          </a:p>
        </p:txBody>
      </p:sp>
      <p:sp>
        <p:nvSpPr>
          <p:cNvPr id="7" name="s7"/>
          <p:cNvSpPr/>
          <p:nvPr/>
        </p:nvSpPr>
        <p:spPr>
          <a:xfrm>
            <a:off x="640080" y="3063240"/>
            <a:ext cx="6766560" cy="306324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960120" y="3273552"/>
            <a:ext cx="6126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AI가 스스로 한 일</a:t>
            </a:r>
          </a:p>
        </p:txBody>
      </p:sp>
      <p:sp>
        <p:nvSpPr>
          <p:cNvPr id="9" name="t9"/>
          <p:cNvSpPr txBox="1"/>
          <p:nvPr/>
        </p:nvSpPr>
        <p:spPr>
          <a:xfrm>
            <a:off x="960120" y="3694176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188720" y="3694176"/>
            <a:ext cx="60350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엑셀 58개 열의 의미와 코딩 규칙을 읽어냄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960120" y="4151376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1188720" y="4151376"/>
            <a:ext cx="60350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숨어 있던 셀 메모(1=Solid, 2=…)까지 해석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960120" y="4608576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188720" y="4608576"/>
            <a:ext cx="60350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기존 입력 항목과 대조해 빠진 항목을 찾아냄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960120" y="5065776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1188720" y="5065776"/>
            <a:ext cx="60350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부족한 입력칸을 새로 만들고 코드 번호로 변환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960120" y="5522976"/>
            <a:ext cx="1828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·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188720" y="5522976"/>
            <a:ext cx="603504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환자를 넘길 때 결절 1개당 1행씩 자동 저장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818120" y="171907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1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새로 생긴 입력 항목</a:t>
            </a:r>
          </a:p>
        </p:txBody>
      </p:sp>
      <p:pic>
        <p:nvPicPr>
          <p:cNvPr id="20" name="p2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392871" y="2084832"/>
            <a:ext cx="2553817" cy="4041648"/>
          </a:xfrm>
          <a:prstGeom prst="rect">
            <a:avLst/>
          </a:prstGeom>
        </p:spPr>
      </p:pic>
      <p:sp>
        <p:nvSpPr>
          <p:cNvPr id="21" name="t21"/>
          <p:cNvSpPr txBox="1"/>
          <p:nvPr/>
        </p:nvSpPr>
        <p:spPr>
          <a:xfrm>
            <a:off x="685800" y="62636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양식을 설명하지 않았습니다. 파일만 줬습니다.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731520" y="658368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2개월 동안 일어난 일</a:t>
            </a:r>
          </a:p>
        </p:txBody>
      </p:sp>
      <p:sp>
        <p:nvSpPr>
          <p:cNvPr id="3" name="t3"/>
          <p:cNvSpPr txBox="1"/>
          <p:nvPr/>
        </p:nvSpPr>
        <p:spPr>
          <a:xfrm>
            <a:off x="749808" y="141732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2026년 6월 6일  →  8월 7일</a:t>
            </a:r>
          </a:p>
        </p:txBody>
      </p:sp>
      <p:sp>
        <p:nvSpPr>
          <p:cNvPr id="4" name="s4"/>
          <p:cNvSpPr/>
          <p:nvPr/>
        </p:nvSpPr>
        <p:spPr>
          <a:xfrm>
            <a:off x="731520" y="214884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1143000" y="2404872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40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110</a:t>
            </a:r>
          </a:p>
        </p:txBody>
      </p:sp>
      <p:sp>
        <p:nvSpPr>
          <p:cNvPr id="6" name="t6"/>
          <p:cNvSpPr txBox="1"/>
          <p:nvPr/>
        </p:nvSpPr>
        <p:spPr>
          <a:xfrm>
            <a:off x="1188720" y="3246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번의 수정</a:t>
            </a:r>
          </a:p>
        </p:txBody>
      </p:sp>
      <p:sp>
        <p:nvSpPr>
          <p:cNvPr id="7" name="t7"/>
          <p:cNvSpPr txBox="1"/>
          <p:nvPr/>
        </p:nvSpPr>
        <p:spPr>
          <a:xfrm>
            <a:off x="3520440" y="2624328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기능 추가, 버그 수정,</a:t>
            </a:r>
          </a:p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디자인 변경</a:t>
            </a:r>
          </a:p>
        </p:txBody>
      </p:sp>
      <p:sp>
        <p:nvSpPr>
          <p:cNvPr id="8" name="s8"/>
          <p:cNvSpPr/>
          <p:nvPr/>
        </p:nvSpPr>
        <p:spPr>
          <a:xfrm>
            <a:off x="6309360" y="214884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6720840" y="2404872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40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99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766560" y="32461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개의 버전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9098280" y="2624328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전부 보관 —</a:t>
            </a:r>
          </a:p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언제든 되돌리기 가능</a:t>
            </a:r>
          </a:p>
        </p:txBody>
      </p:sp>
      <p:sp>
        <p:nvSpPr>
          <p:cNvPr id="12" name="s12"/>
          <p:cNvSpPr/>
          <p:nvPr/>
        </p:nvSpPr>
        <p:spPr>
          <a:xfrm>
            <a:off x="731520" y="425196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1143000" y="4507992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40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188720" y="53492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개의 자동 검사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3520440" y="4727448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고칠 때마다 자동으로</a:t>
            </a:r>
          </a:p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전체 재검증</a:t>
            </a:r>
          </a:p>
        </p:txBody>
      </p:sp>
      <p:sp>
        <p:nvSpPr>
          <p:cNvPr id="16" name="s16"/>
          <p:cNvSpPr/>
          <p:nvPr/>
        </p:nvSpPr>
        <p:spPr>
          <a:xfrm>
            <a:off x="6309360" y="4251960"/>
            <a:ext cx="5120640" cy="1828800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17" name="t17"/>
          <p:cNvSpPr txBox="1"/>
          <p:nvPr/>
        </p:nvSpPr>
        <p:spPr>
          <a:xfrm>
            <a:off x="6720840" y="4507992"/>
            <a:ext cx="237744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400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7,968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6766560" y="534924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줄의 코드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9098280" y="4727448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제가 직접 타이핑한 것은</a:t>
            </a:r>
          </a:p>
          <a:p>
            <a:pPr algn="l">
              <a:lnSpc>
                <a:spcPct val="135000"/>
              </a:lnSpc>
            </a:pPr>
            <a:r>
              <a:rPr lang="ko-KR" altLang="en-US" sz="1150" dirty="0">
                <a:solidFill>
                  <a:srgbClr val="8FA9C2"/>
                </a:solidFill>
                <a:latin typeface="맑은 고딕"/>
                <a:ea typeface="맑은 고딕"/>
                <a:cs typeface="맑은 고딕"/>
              </a:rPr>
              <a:t>거의 없음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고치면 다른 데가 망가지는 문제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수정이 쌓이면서 생긴 가장 큰 골칫거리였습니다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828800"/>
            <a:ext cx="5257800" cy="1965960"/>
          </a:xfrm>
          <a:prstGeom prst="roundRect">
            <a:avLst>
              <a:gd name="adj" fmla="val 3500"/>
            </a:avLst>
          </a:prstGeom>
          <a:solidFill>
            <a:srgbClr val="FFF4E5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C77700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6" name="t6"/>
          <p:cNvSpPr txBox="1"/>
          <p:nvPr/>
        </p:nvSpPr>
        <p:spPr>
          <a:xfrm>
            <a:off x="960120" y="2450592"/>
            <a:ext cx="46177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A를 고쳤더니 B가 깨짐.</a:t>
            </a:r>
          </a:p>
          <a:p>
            <a:pPr algn="l">
              <a:lnSpc>
                <a:spcPct val="145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B를 고쳤더니 C가 깨짐.</a:t>
            </a:r>
          </a:p>
          <a:p>
            <a:pPr algn="l">
              <a:lnSpc>
                <a:spcPct val="145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매번 손으로 다 확인할 수 없음.</a:t>
            </a:r>
          </a:p>
        </p:txBody>
      </p:sp>
      <p:sp>
        <p:nvSpPr>
          <p:cNvPr id="7" name="s7"/>
          <p:cNvSpPr/>
          <p:nvPr/>
        </p:nvSpPr>
        <p:spPr>
          <a:xfrm>
            <a:off x="6263640" y="1828800"/>
            <a:ext cx="5257800" cy="1965960"/>
          </a:xfrm>
          <a:prstGeom prst="roundRect">
            <a:avLst>
              <a:gd name="adj" fmla="val 3500"/>
            </a:avLst>
          </a:prstGeom>
          <a:solidFill>
            <a:srgbClr val="E8F6EC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157F33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9" name="t9"/>
          <p:cNvSpPr txBox="1"/>
          <p:nvPr/>
        </p:nvSpPr>
        <p:spPr>
          <a:xfrm>
            <a:off x="6583680" y="2450592"/>
            <a:ext cx="46177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"검사 항목을 만들어 둬"라고 시킴.</a:t>
            </a:r>
          </a:p>
          <a:p>
            <a:pPr algn="l">
              <a:lnSpc>
                <a:spcPct val="145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이제 고칠 때마다 44개가</a:t>
            </a:r>
          </a:p>
          <a:p>
            <a:pPr algn="l">
              <a:lnSpc>
                <a:spcPct val="145000"/>
              </a:lnSpc>
            </a:pPr>
            <a:r>
              <a:rPr lang="ko-KR" altLang="en-US" sz="1400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자동으로 전부 확인됩니다.</a:t>
            </a:r>
          </a:p>
        </p:txBody>
      </p:sp>
      <p:sp>
        <p:nvSpPr>
          <p:cNvPr id="10" name="s10"/>
          <p:cNvSpPr/>
          <p:nvPr/>
        </p:nvSpPr>
        <p:spPr>
          <a:xfrm>
            <a:off x="640080" y="4069080"/>
            <a:ext cx="10881360" cy="1691640"/>
          </a:xfrm>
          <a:prstGeom prst="roundRect">
            <a:avLst>
              <a:gd name="adj" fmla="val 3000"/>
            </a:avLst>
          </a:prstGeom>
          <a:solidFill>
            <a:srgbClr val="10231A"/>
          </a:solidFill>
          <a:ln w="12700">
            <a:solidFill>
              <a:srgbClr val="1E3A2C"/>
            </a:solidFill>
          </a:ln>
        </p:spPr>
        <p:txBody>
          <a:bodyPr/>
          <a:lstStyle/>
          <a:p/>
        </p:txBody>
      </p:sp>
      <p:sp>
        <p:nvSpPr>
          <p:cNvPr id="11" name="t11"/>
          <p:cNvSpPr txBox="1"/>
          <p:nvPr/>
        </p:nvSpPr>
        <p:spPr>
          <a:xfrm>
            <a:off x="960120" y="4279392"/>
            <a:ext cx="731520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250" dirty="0">
                <a:solidFill>
                  <a:srgbClr val="5EE08A"/>
                </a:solidFill>
                <a:latin typeface="Consolas"/>
                <a:ea typeface="Consolas"/>
                <a:cs typeface="Consolas"/>
              </a:rPr>
              <a:t>✓  빈 화면에서 정상 판독문이 나가지 않는가</a:t>
            </a:r>
          </a:p>
          <a:p>
            <a:pPr algn="l">
              <a:lnSpc>
                <a:spcPct val="150000"/>
              </a:lnSpc>
            </a:pPr>
            <a:r>
              <a:rPr lang="ko-KR" altLang="en-US" sz="1250" dirty="0">
                <a:solidFill>
                  <a:srgbClr val="5EE08A"/>
                </a:solidFill>
                <a:latin typeface="Consolas"/>
                <a:ea typeface="Consolas"/>
                <a:cs typeface="Consolas"/>
              </a:rPr>
              <a:t>✓  K-TIRADS 등급이 크기·소견에 맞게 계산되는가</a:t>
            </a:r>
          </a:p>
          <a:p>
            <a:pPr algn="l">
              <a:lnSpc>
                <a:spcPct val="150000"/>
              </a:lnSpc>
            </a:pPr>
            <a:r>
              <a:rPr lang="ko-KR" altLang="en-US" sz="1250" dirty="0">
                <a:solidFill>
                  <a:srgbClr val="5EE08A"/>
                </a:solidFill>
                <a:latin typeface="Consolas"/>
                <a:ea typeface="Consolas"/>
                <a:cs typeface="Consolas"/>
              </a:rPr>
              <a:t>✓  새로고침해도 입력 내용이 남아 있는가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8778240" y="443484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1700" b="1" dirty="0">
                <a:solidFill>
                  <a:srgbClr val="5EE08A"/>
                </a:solidFill>
                <a:latin typeface="Consolas"/>
                <a:ea typeface="Consolas"/>
                <a:cs typeface="Consolas"/>
              </a:rPr>
              <a:t>44 passed</a:t>
            </a:r>
          </a:p>
          <a:p>
            <a:pPr algn="ctr">
              <a:lnSpc>
                <a:spcPct val="130000"/>
              </a:lnSpc>
            </a:pPr>
            <a:r>
              <a:rPr lang="ko-KR" altLang="en-US" sz="1700" b="1" dirty="0">
                <a:solidFill>
                  <a:srgbClr val="5EE08A"/>
                </a:solidFill>
                <a:latin typeface="Consolas"/>
                <a:ea typeface="Consolas"/>
                <a:cs typeface="Consolas"/>
              </a:rPr>
              <a:t>0 failed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85800" y="59436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사람이 매번 확인할 수 없는 것을, 기계가 매번 확인합니다.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지금은 이런 일을 합니다</a:t>
            </a:r>
          </a:p>
        </p:txBody>
      </p:sp>
      <p:sp>
        <p:nvSpPr>
          <p:cNvPr id="3" name="t3"/>
          <p:cNvSpPr txBox="1"/>
          <p:nvPr/>
        </p:nvSpPr>
        <p:spPr>
          <a:xfrm>
            <a:off x="658368" y="109728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2개월간의 수정이 쌓인 결과</a:t>
            </a:r>
          </a:p>
        </p:txBody>
      </p:sp>
      <p:sp>
        <p:nvSpPr>
          <p:cNvPr id="4" name="s4"/>
          <p:cNvSpPr/>
          <p:nvPr/>
        </p:nvSpPr>
        <p:spPr>
          <a:xfrm>
            <a:off x="640080" y="1783080"/>
            <a:ext cx="5257800" cy="2377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pic>
        <p:nvPicPr>
          <p:cNvPr id="5" name="p5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04672" y="1969572"/>
            <a:ext cx="4937760" cy="1355232"/>
          </a:xfrm>
          <a:prstGeom prst="rect">
            <a:avLst/>
          </a:prstGeom>
        </p:spPr>
      </p:pic>
      <p:sp>
        <p:nvSpPr>
          <p:cNvPr id="6" name="t6"/>
          <p:cNvSpPr txBox="1"/>
          <p:nvPr/>
        </p:nvSpPr>
        <p:spPr>
          <a:xfrm>
            <a:off x="960120" y="345643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목 부위를 클릭해서 입력</a:t>
            </a:r>
          </a:p>
        </p:txBody>
      </p:sp>
      <p:sp>
        <p:nvSpPr>
          <p:cNvPr id="7" name="t7"/>
          <p:cNvSpPr txBox="1"/>
          <p:nvPr/>
        </p:nvSpPr>
        <p:spPr>
          <a:xfrm>
            <a:off x="960120" y="380390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표를 찾지 않고 그림에서 바로 선택</a:t>
            </a:r>
          </a:p>
        </p:txBody>
      </p:sp>
      <p:sp>
        <p:nvSpPr>
          <p:cNvPr id="8" name="s8"/>
          <p:cNvSpPr/>
          <p:nvPr/>
        </p:nvSpPr>
        <p:spPr>
          <a:xfrm>
            <a:off x="6217920" y="1783080"/>
            <a:ext cx="5257800" cy="23774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pic>
        <p:nvPicPr>
          <p:cNvPr id="9" name="p9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136892" y="1938528"/>
            <a:ext cx="3429000" cy="1417320"/>
          </a:xfrm>
          <a:prstGeom prst="rect">
            <a:avLst/>
          </a:prstGeom>
        </p:spPr>
      </p:pic>
      <p:sp>
        <p:nvSpPr>
          <p:cNvPr id="10" name="t10"/>
          <p:cNvSpPr txBox="1"/>
          <p:nvPr/>
        </p:nvSpPr>
        <p:spPr>
          <a:xfrm>
            <a:off x="6537960" y="3456432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4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Alt 키를 누르면 단축키 표시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537960" y="380390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외울 필요 없이 눌러서 확인</a:t>
            </a:r>
          </a:p>
        </p:txBody>
      </p:sp>
      <p:sp>
        <p:nvSpPr>
          <p:cNvPr id="12" name="s12"/>
          <p:cNvSpPr/>
          <p:nvPr/>
        </p:nvSpPr>
        <p:spPr>
          <a:xfrm>
            <a:off x="640080" y="4370832"/>
            <a:ext cx="5257800" cy="91440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960120" y="4489704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K-TIRADS 등급 자동 계산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960120" y="485546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소견을 고르면 등급과 악성도가 바로 표시</a:t>
            </a:r>
          </a:p>
        </p:txBody>
      </p:sp>
      <p:sp>
        <p:nvSpPr>
          <p:cNvPr id="15" name="s15"/>
          <p:cNvSpPr/>
          <p:nvPr/>
        </p:nvSpPr>
        <p:spPr>
          <a:xfrm>
            <a:off x="6217920" y="4370832"/>
            <a:ext cx="5257800" cy="91440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6537960" y="4489704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생검 기준 자동 대조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6537960" y="4855464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크기와 등급을 비교해 생검 적응증 판정</a:t>
            </a:r>
          </a:p>
        </p:txBody>
      </p:sp>
      <p:sp>
        <p:nvSpPr>
          <p:cNvPr id="18" name="s18"/>
          <p:cNvSpPr/>
          <p:nvPr/>
        </p:nvSpPr>
        <p:spPr>
          <a:xfrm>
            <a:off x="640080" y="5404104"/>
            <a:ext cx="5257800" cy="91440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960120" y="5522976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추적 간격 제안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960120" y="5888736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역치 미달이면 권장 추적 간격을 제시</a:t>
            </a:r>
          </a:p>
        </p:txBody>
      </p:sp>
      <p:sp>
        <p:nvSpPr>
          <p:cNvPr id="21" name="s21"/>
          <p:cNvSpPr/>
          <p:nvPr/>
        </p:nvSpPr>
        <p:spPr>
          <a:xfrm>
            <a:off x="6217920" y="5404104"/>
            <a:ext cx="5257800" cy="914400"/>
          </a:xfrm>
          <a:prstGeom prst="roundRect">
            <a:avLst>
              <a:gd name="adj" fmla="val 3500"/>
            </a:avLst>
          </a:prstGeom>
          <a:solidFill>
            <a:srgbClr val="F2F4F7"/>
          </a:solidFill>
          <a:ln w="12700">
            <a:solidFill>
              <a:srgbClr val="E3E8EE"/>
            </a:solidFill>
          </a:ln>
        </p:spPr>
        <p:txBody>
          <a:bodyPr/>
          <a:lstStyle/>
          <a:p/>
        </p:txBody>
      </p:sp>
      <p:sp>
        <p:nvSpPr>
          <p:cNvPr id="22" name="t22"/>
          <p:cNvSpPr txBox="1"/>
          <p:nvPr/>
        </p:nvSpPr>
        <p:spPr>
          <a:xfrm>
            <a:off x="6537960" y="5522976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3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연구 데이터 자동 저장</a:t>
            </a:r>
          </a:p>
        </p:txBody>
      </p:sp>
      <p:sp>
        <p:nvSpPr>
          <p:cNvPr id="23" name="t23"/>
          <p:cNvSpPr txBox="1"/>
          <p:nvPr/>
        </p:nvSpPr>
        <p:spPr>
          <a:xfrm>
            <a:off x="6537960" y="5888736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15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환자를 넘기면 엑셀 파일에 자동 누적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10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내일 바로 해보실 수 있는 다섯 가지</a:t>
            </a:r>
          </a:p>
        </p:txBody>
      </p:sp>
      <p:sp>
        <p:nvSpPr>
          <p:cNvPr id="3" name="s3"/>
          <p:cNvSpPr/>
          <p:nvPr/>
        </p:nvSpPr>
        <p:spPr>
          <a:xfrm>
            <a:off x="640080" y="1417320"/>
            <a:ext cx="10881360" cy="8778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4" name="s4"/>
          <p:cNvSpPr/>
          <p:nvPr/>
        </p:nvSpPr>
        <p:spPr>
          <a:xfrm>
            <a:off x="932688" y="1591056"/>
            <a:ext cx="530352" cy="53035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5"/>
          <p:cNvSpPr txBox="1"/>
          <p:nvPr/>
        </p:nvSpPr>
        <p:spPr>
          <a:xfrm>
            <a:off x="1755648" y="1527048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화면을 캡처해서 붙여넣으세요</a:t>
            </a:r>
          </a:p>
        </p:txBody>
      </p:sp>
      <p:sp>
        <p:nvSpPr>
          <p:cNvPr id="6" name="t6"/>
          <p:cNvSpPr txBox="1"/>
          <p:nvPr/>
        </p:nvSpPr>
        <p:spPr>
          <a:xfrm>
            <a:off x="1755648" y="1901952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"어디가 이상한지" 설명하는 것보다 빠르고 정확합니다.</a:t>
            </a:r>
          </a:p>
        </p:txBody>
      </p:sp>
      <p:sp>
        <p:nvSpPr>
          <p:cNvPr id="7" name="s7"/>
          <p:cNvSpPr/>
          <p:nvPr/>
        </p:nvSpPr>
        <p:spPr>
          <a:xfrm>
            <a:off x="640080" y="2441448"/>
            <a:ext cx="10881360" cy="8778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8" name="s8"/>
          <p:cNvSpPr/>
          <p:nvPr/>
        </p:nvSpPr>
        <p:spPr>
          <a:xfrm>
            <a:off x="932688" y="2615184"/>
            <a:ext cx="530352" cy="53035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9"/>
          <p:cNvSpPr txBox="1"/>
          <p:nvPr/>
        </p:nvSpPr>
        <p:spPr>
          <a:xfrm>
            <a:off x="1755648" y="2551176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같은 문제가 두 번이면 "왜"를 물으세요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1755648" y="2926080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증상만 고치면 계속 되돌아옵니다.</a:t>
            </a:r>
          </a:p>
        </p:txBody>
      </p:sp>
      <p:sp>
        <p:nvSpPr>
          <p:cNvPr id="11" name="s11"/>
          <p:cNvSpPr/>
          <p:nvPr/>
        </p:nvSpPr>
        <p:spPr>
          <a:xfrm>
            <a:off x="640080" y="3465576"/>
            <a:ext cx="10881360" cy="8778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2" name="s12"/>
          <p:cNvSpPr/>
          <p:nvPr/>
        </p:nvSpPr>
        <p:spPr>
          <a:xfrm>
            <a:off x="932688" y="3639312"/>
            <a:ext cx="530352" cy="53035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1755648" y="3575304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과감하게 시도하세요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1755648" y="3950208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마음에 안 들면 통째로 되돌릴 수 있습니다.</a:t>
            </a:r>
          </a:p>
        </p:txBody>
      </p:sp>
      <p:sp>
        <p:nvSpPr>
          <p:cNvPr id="15" name="s15"/>
          <p:cNvSpPr/>
          <p:nvPr/>
        </p:nvSpPr>
        <p:spPr>
          <a:xfrm>
            <a:off x="640080" y="4489704"/>
            <a:ext cx="10881360" cy="8778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16" name="s16"/>
          <p:cNvSpPr/>
          <p:nvPr/>
        </p:nvSpPr>
        <p:spPr>
          <a:xfrm>
            <a:off x="932688" y="4663440"/>
            <a:ext cx="530352" cy="53035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1755648" y="4599432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큰 작업은 계획서를 먼저 받으세요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1755648" y="4974336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"바로 하지 말고 어떻게 할 건지 먼저 알려줘"</a:t>
            </a:r>
          </a:p>
        </p:txBody>
      </p:sp>
      <p:sp>
        <p:nvSpPr>
          <p:cNvPr id="19" name="s19"/>
          <p:cNvSpPr/>
          <p:nvPr/>
        </p:nvSpPr>
        <p:spPr>
          <a:xfrm>
            <a:off x="640080" y="5513832"/>
            <a:ext cx="10881360" cy="8778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>
            <a:outerShdw blurRad="152400" dist="34925" dir="5400000" algn="t" rotWithShape="0">
              <a:srgbClr val="0F2A43">
                <a:alpha val="14000"/>
              </a:srgbClr>
            </a:outerShdw>
          </a:effectLst>
        </p:spPr>
        <p:txBody>
          <a:bodyPr/>
          <a:lstStyle/>
          <a:p/>
        </p:txBody>
      </p:sp>
      <p:sp>
        <p:nvSpPr>
          <p:cNvPr id="20" name="s20"/>
          <p:cNvSpPr/>
          <p:nvPr/>
        </p:nvSpPr>
        <p:spPr>
          <a:xfrm>
            <a:off x="932688" y="5687568"/>
            <a:ext cx="530352" cy="530352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ko-KR" altLang="en-US" sz="155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1755648" y="562356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50" b="1" dirty="0">
                <a:solidFill>
                  <a:srgbClr val="0F2A43"/>
                </a:solidFill>
                <a:latin typeface="맑은 고딕"/>
                <a:ea typeface="맑은 고딕"/>
                <a:cs typeface="맑은 고딕"/>
              </a:rPr>
              <a:t>가끔 "문제 없는지 봐줘"라고 시키세요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1755648" y="5998464"/>
            <a:ext cx="95097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dirty="0">
                <a:solidFill>
                  <a:srgbClr val="6B7A8C"/>
                </a:solidFill>
                <a:latin typeface="맑은 고딕"/>
                <a:ea typeface="맑은 고딕"/>
                <a:cs typeface="맑은 고딕"/>
              </a:rPr>
              <a:t>제가 못 본 치명적 버그가 그렇게 발견됐습니다.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다만, 분명한 한계가 있습니다</a:t>
            </a:r>
          </a:p>
        </p:txBody>
      </p:sp>
      <p:sp>
        <p:nvSpPr>
          <p:cNvPr id="3" name="s3"/>
          <p:cNvSpPr/>
          <p:nvPr/>
        </p:nvSpPr>
        <p:spPr>
          <a:xfrm>
            <a:off x="731520" y="1645920"/>
            <a:ext cx="10698480" cy="1042416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1097280" y="1792224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AI는 임상적 타당성을 판단하지 못합니다</a:t>
            </a:r>
          </a:p>
        </p:txBody>
      </p:sp>
      <p:sp>
        <p:nvSpPr>
          <p:cNvPr id="5" name="t5"/>
          <p:cNvSpPr txBox="1"/>
          <p:nvPr/>
        </p:nvSpPr>
        <p:spPr>
          <a:xfrm>
            <a:off x="1097280" y="221284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A8C4DE"/>
                </a:solidFill>
                <a:latin typeface="맑은 고딕"/>
                <a:ea typeface="맑은 고딕"/>
                <a:cs typeface="맑은 고딕"/>
              </a:rPr>
              <a:t>가이드라인 해석, 안전한 동작 설계는 결국 의사가 정해야 했습니다.</a:t>
            </a:r>
          </a:p>
        </p:txBody>
      </p:sp>
      <p:sp>
        <p:nvSpPr>
          <p:cNvPr id="6" name="s6"/>
          <p:cNvSpPr/>
          <p:nvPr/>
        </p:nvSpPr>
        <p:spPr>
          <a:xfrm>
            <a:off x="731520" y="2852928"/>
            <a:ext cx="10698480" cy="1042416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1097280" y="2999232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"돌아간다"와 "믿을 수 있다"는 다릅니다</a:t>
            </a:r>
          </a:p>
        </p:txBody>
      </p:sp>
      <p:sp>
        <p:nvSpPr>
          <p:cNvPr id="8" name="t8"/>
          <p:cNvSpPr txBox="1"/>
          <p:nvPr/>
        </p:nvSpPr>
        <p:spPr>
          <a:xfrm>
            <a:off x="1097280" y="341985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A8C4DE"/>
                </a:solidFill>
                <a:latin typeface="맑은 고딕"/>
                <a:ea typeface="맑은 고딕"/>
                <a:cs typeface="맑은 고딕"/>
              </a:rPr>
              <a:t>치명적 버그는 제가 물어봤을 때 비로소 발견됐습니다.</a:t>
            </a:r>
          </a:p>
        </p:txBody>
      </p:sp>
      <p:sp>
        <p:nvSpPr>
          <p:cNvPr id="9" name="s9"/>
          <p:cNvSpPr/>
          <p:nvPr/>
        </p:nvSpPr>
        <p:spPr>
          <a:xfrm>
            <a:off x="731520" y="4059936"/>
            <a:ext cx="10698480" cy="1042416"/>
          </a:xfrm>
          <a:prstGeom prst="roundRect">
            <a:avLst>
              <a:gd name="adj" fmla="val 3500"/>
            </a:avLst>
          </a:prstGeom>
          <a:solidFill>
            <a:srgbClr val="1B3A57"/>
          </a:solidFill>
          <a:ln w="12700">
            <a:solidFill>
              <a:srgbClr val="2C4E70"/>
            </a:solidFill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1097280" y="4206240"/>
            <a:ext cx="1005840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FF9F0A"/>
                </a:solidFill>
                <a:latin typeface="맑은 고딕"/>
                <a:ea typeface="맑은 고딕"/>
                <a:cs typeface="맑은 고딕"/>
              </a:rPr>
              <a:t>이 도구도 아직 검증 단계입니다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97280" y="462686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dirty="0">
                <a:solidFill>
                  <a:srgbClr val="A8C4DE"/>
                </a:solidFill>
                <a:latin typeface="맑은 고딕"/>
                <a:ea typeface="맑은 고딕"/>
                <a:cs typeface="맑은 고딕"/>
              </a:rPr>
              <a:t>실제 진료에 쓰기 전에 판독문과 등급 판정을 검증해야 합니다.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1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그럼에도, 시작하는 데는 아이디어 하나면 충분했습니다.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749808" y="6108192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500" dirty="0">
                <a:solidFill>
                  <a:srgbClr val="0A84FF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">
  <a:themeElements>
    <a:clrScheme name="Deck">
      <a:dk1>
        <a:sysClr val="windowText" lastClr="000000"/>
      </a:dk1>
      <a:lt1>
        <a:sysClr val="window" lastClr="FFFFFF"/>
      </a:lt1>
      <a:dk2>
        <a:srgbClr val="0F2A43"/>
      </a:dk2>
      <a:lt2>
        <a:srgbClr val="F2F4F7"/>
      </a:lt2>
      <a:accent1>
        <a:srgbClr val="0A84FF"/>
      </a:accent1>
      <a:accent2>
        <a:srgbClr val="FF9F0A"/>
      </a:accent2>
      <a:accent3>
        <a:srgbClr val="30D158"/>
      </a:accent3>
      <a:accent4>
        <a:srgbClr val="FF453A"/>
      </a:accent4>
      <a:accent5>
        <a:srgbClr val="1B3A57"/>
      </a:accent5>
      <a:accent6>
        <a:srgbClr val="6B7A8C"/>
      </a:accent6>
      <a:hlink>
        <a:srgbClr val="0A84FF"/>
      </a:hlink>
      <a:folHlink>
        <a:srgbClr val="6B7A8C"/>
      </a:folHlink>
    </a:clrScheme>
    <a:fontScheme name="Deck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